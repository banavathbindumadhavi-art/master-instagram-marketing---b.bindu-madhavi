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consolata"/>
      <p:regular r:id="rId17"/>
    </p:embeddedFont>
    <p:embeddedFont>
      <p:font typeface="Inconsolata"/>
      <p:regular r:id="rId18"/>
    </p:embeddedFont>
    <p:embeddedFont>
      <p:font typeface="Fira Sans"/>
      <p:regular r:id="rId19"/>
    </p:embeddedFont>
    <p:embeddedFont>
      <p:font typeface="Fira Sans"/>
      <p:regular r:id="rId20"/>
    </p:embeddedFont>
    <p:embeddedFont>
      <p:font typeface="Fira Sans"/>
      <p:regular r:id="rId21"/>
    </p:embeddedFont>
    <p:embeddedFont>
      <p:font typeface="Fira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305157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Master Instagram Marketing: Unlock Your Brand's Potential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427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Why Instagram Matters: The Power of Visual Storytelling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56071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Instagram has evolved beyond a simple photo-sharing app into a dynamic platform for brands to connect with their audience. With over a billion active users, it's a crucial channel for: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117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Building brand awareness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539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Showcasing products and services visually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961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Engaging with a diverse global community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8383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Driving traffic and conversions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40532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Visual content reigns supreme, allowing you to tell your brand's story in an immersive and captivating way.</a:t>
            </a:r>
            <a:endParaRPr lang="en-US" sz="17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9521" y="2907149"/>
            <a:ext cx="4082891" cy="22682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3161" y="661392"/>
            <a:ext cx="8097679" cy="934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Optimizing Your Profile: First Impressions Count</a:t>
            </a:r>
            <a:endParaRPr lang="en-US" sz="2900" dirty="0"/>
          </a:p>
        </p:txBody>
      </p:sp>
      <p:sp>
        <p:nvSpPr>
          <p:cNvPr id="6" name="Shape 2"/>
          <p:cNvSpPr/>
          <p:nvPr/>
        </p:nvSpPr>
        <p:spPr>
          <a:xfrm>
            <a:off x="523161" y="2043946"/>
            <a:ext cx="8097679" cy="1100852"/>
          </a:xfrm>
          <a:prstGeom prst="roundRect">
            <a:avLst>
              <a:gd name="adj" fmla="val 6645"/>
            </a:avLst>
          </a:prstGeom>
          <a:solidFill>
            <a:srgbClr val="241631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61" y="2028706"/>
            <a:ext cx="8097679" cy="6096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805" y="1819751"/>
            <a:ext cx="448389" cy="448389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87824" y="2417683"/>
            <a:ext cx="1868686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Profile Picture</a:t>
            </a:r>
            <a:endParaRPr lang="en-US" sz="1450" dirty="0"/>
          </a:p>
        </p:txBody>
      </p:sp>
      <p:sp>
        <p:nvSpPr>
          <p:cNvPr id="10" name="Text 4"/>
          <p:cNvSpPr/>
          <p:nvPr/>
        </p:nvSpPr>
        <p:spPr>
          <a:xfrm>
            <a:off x="687824" y="2740938"/>
            <a:ext cx="7768352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 a clear, recognizable logo or a professional headshot. This is your brand's face.</a:t>
            </a:r>
            <a:endParaRPr lang="en-US" sz="1150" dirty="0"/>
          </a:p>
        </p:txBody>
      </p:sp>
      <p:sp>
        <p:nvSpPr>
          <p:cNvPr id="11" name="Shape 5"/>
          <p:cNvSpPr/>
          <p:nvPr/>
        </p:nvSpPr>
        <p:spPr>
          <a:xfrm>
            <a:off x="523161" y="3518416"/>
            <a:ext cx="8097679" cy="1100852"/>
          </a:xfrm>
          <a:prstGeom prst="roundRect">
            <a:avLst>
              <a:gd name="adj" fmla="val 6645"/>
            </a:avLst>
          </a:prstGeom>
          <a:solidFill>
            <a:srgbClr val="241631"/>
          </a:solidFill>
          <a:ln/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161" y="3503176"/>
            <a:ext cx="8097679" cy="60960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7805" y="3294221"/>
            <a:ext cx="448389" cy="44838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87824" y="3892153"/>
            <a:ext cx="1868686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Compelling Bio</a:t>
            </a:r>
            <a:endParaRPr lang="en-US" sz="1450" dirty="0"/>
          </a:p>
        </p:txBody>
      </p:sp>
      <p:sp>
        <p:nvSpPr>
          <p:cNvPr id="15" name="Text 7"/>
          <p:cNvSpPr/>
          <p:nvPr/>
        </p:nvSpPr>
        <p:spPr>
          <a:xfrm>
            <a:off x="687824" y="4215408"/>
            <a:ext cx="7768352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Clearly state who you are, what you offer, and why people should follow you. Use keywords and emojis.</a:t>
            </a:r>
            <a:endParaRPr lang="en-US" sz="1150" dirty="0"/>
          </a:p>
        </p:txBody>
      </p:sp>
      <p:sp>
        <p:nvSpPr>
          <p:cNvPr id="16" name="Shape 8"/>
          <p:cNvSpPr/>
          <p:nvPr/>
        </p:nvSpPr>
        <p:spPr>
          <a:xfrm>
            <a:off x="523161" y="4992886"/>
            <a:ext cx="8097679" cy="1100852"/>
          </a:xfrm>
          <a:prstGeom prst="roundRect">
            <a:avLst>
              <a:gd name="adj" fmla="val 6645"/>
            </a:avLst>
          </a:prstGeom>
          <a:solidFill>
            <a:srgbClr val="241631"/>
          </a:solidFill>
          <a:ln/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161" y="4977646"/>
            <a:ext cx="8097679" cy="60960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7805" y="4768691"/>
            <a:ext cx="448389" cy="448389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87824" y="5366623"/>
            <a:ext cx="1868686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Link in Bio</a:t>
            </a:r>
            <a:endParaRPr lang="en-US" sz="1450" dirty="0"/>
          </a:p>
        </p:txBody>
      </p:sp>
      <p:sp>
        <p:nvSpPr>
          <p:cNvPr id="20" name="Text 10"/>
          <p:cNvSpPr/>
          <p:nvPr/>
        </p:nvSpPr>
        <p:spPr>
          <a:xfrm>
            <a:off x="687824" y="5689878"/>
            <a:ext cx="7768352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Direct users to your website, latest blog post, or product page. Use tools like Linktree for multiple links.</a:t>
            </a:r>
            <a:endParaRPr lang="en-US" sz="1150" dirty="0"/>
          </a:p>
        </p:txBody>
      </p:sp>
      <p:sp>
        <p:nvSpPr>
          <p:cNvPr id="21" name="Shape 11"/>
          <p:cNvSpPr/>
          <p:nvPr/>
        </p:nvSpPr>
        <p:spPr>
          <a:xfrm>
            <a:off x="523161" y="6467356"/>
            <a:ext cx="8097679" cy="1100852"/>
          </a:xfrm>
          <a:prstGeom prst="roundRect">
            <a:avLst>
              <a:gd name="adj" fmla="val 6645"/>
            </a:avLst>
          </a:prstGeom>
          <a:solidFill>
            <a:srgbClr val="241631"/>
          </a:solidFill>
          <a:ln/>
        </p:spPr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161" y="6452116"/>
            <a:ext cx="8097679" cy="60960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7805" y="6243161"/>
            <a:ext cx="448389" cy="448389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687824" y="6841093"/>
            <a:ext cx="1868686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Story Highlights</a:t>
            </a:r>
            <a:endParaRPr lang="en-US" sz="1450" dirty="0"/>
          </a:p>
        </p:txBody>
      </p:sp>
      <p:sp>
        <p:nvSpPr>
          <p:cNvPr id="25" name="Text 13"/>
          <p:cNvSpPr/>
          <p:nvPr/>
        </p:nvSpPr>
        <p:spPr>
          <a:xfrm>
            <a:off x="687824" y="7164348"/>
            <a:ext cx="7768352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Curate evergreen content from your Stories into themed highlights for easy access.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049" y="605790"/>
            <a:ext cx="13088303" cy="137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Crafting Compelling Content: Photos, Videos &amp; Reels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049" y="2423160"/>
            <a:ext cx="4179213" cy="25829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1049" y="5226368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High-Quality Photos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71049" y="5702737"/>
            <a:ext cx="4179213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Invest in good photography. Use natural light, clear focus, and appealing aesthetics to showcase your products or brand.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534" y="2423160"/>
            <a:ext cx="4179213" cy="25829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5534" y="5226368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Engaging Videos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225534" y="5702737"/>
            <a:ext cx="4179213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Share short tutorials, behind-the-scenes glimpses, or product demos. Videos capture attention and convey more.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019" y="2423160"/>
            <a:ext cx="4179332" cy="25829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0019" y="5226368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Dynamic Reels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680019" y="5702737"/>
            <a:ext cx="4179332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Leverage Reels for short, entertaining content. Use trending audio and creative transitions to reach a wider audience.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771049" y="7360206"/>
            <a:ext cx="1308830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Visual consistency and originality are key to standing out in a crowded feed.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4726"/>
            <a:ext cx="119064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Hashtag Strategy: Reach the Right Audience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17740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Hashtags are your content's compass, guiding it to interested users. A strategic approach involves: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847618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Relevance: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Use hashtags directly related to your content, niche, and industry.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65271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Variety: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Mix broad, popular hashtags with more specific, niche ones.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094917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Research: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Explore what hashtags your competitors and target audience are using.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00017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Branded Hashtags: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Create unique hashtags for your brand campaigns or community.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05118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Placement: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Place hashtags in your caption or the first comment for cleaner aesthetics.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634996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Using the right hashtags can significantly increase your content's discoverability and reach.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1968817"/>
            <a:ext cx="4082891" cy="22682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2945" y="740807"/>
            <a:ext cx="7738110" cy="1255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Engaging Your Community: Building Connections &amp; Loyalty</a:t>
            </a:r>
            <a:endParaRPr lang="en-US" sz="39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193" y="2303324"/>
            <a:ext cx="301228" cy="30122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355527" y="2297192"/>
            <a:ext cx="3137416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Respond to Comments &amp; DMs</a:t>
            </a:r>
            <a:endParaRPr lang="en-US" sz="1950" dirty="0"/>
          </a:p>
        </p:txBody>
      </p:sp>
      <p:sp>
        <p:nvSpPr>
          <p:cNvPr id="8" name="Text 3"/>
          <p:cNvSpPr/>
          <p:nvPr/>
        </p:nvSpPr>
        <p:spPr>
          <a:xfrm>
            <a:off x="1355527" y="2731532"/>
            <a:ext cx="7085528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Acknowledge and respond to every comment and direct message to foster a sense of community.</a:t>
            </a:r>
            <a:endParaRPr lang="en-US" sz="15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193" y="3781961"/>
            <a:ext cx="301228" cy="30122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55527" y="3775829"/>
            <a:ext cx="2510552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Interactive Stories</a:t>
            </a:r>
            <a:endParaRPr lang="en-US" sz="1950" dirty="0"/>
          </a:p>
        </p:txBody>
      </p:sp>
      <p:sp>
        <p:nvSpPr>
          <p:cNvPr id="11" name="Text 5"/>
          <p:cNvSpPr/>
          <p:nvPr/>
        </p:nvSpPr>
        <p:spPr>
          <a:xfrm>
            <a:off x="1355527" y="4210169"/>
            <a:ext cx="7085528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 polls, Q&amp;A stickers, and quizzes in your Stories to encourage direct interaction and feedback.</a:t>
            </a:r>
            <a:endParaRPr lang="en-US" sz="15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8193" y="5260598"/>
            <a:ext cx="301228" cy="30122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55527" y="5254466"/>
            <a:ext cx="3011924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Run Contests &amp; Giveaways</a:t>
            </a:r>
            <a:endParaRPr lang="en-US" sz="1950" dirty="0"/>
          </a:p>
        </p:txBody>
      </p:sp>
      <p:sp>
        <p:nvSpPr>
          <p:cNvPr id="14" name="Text 7"/>
          <p:cNvSpPr/>
          <p:nvPr/>
        </p:nvSpPr>
        <p:spPr>
          <a:xfrm>
            <a:off x="1355527" y="5688806"/>
            <a:ext cx="7085528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Boost engagement and reach by hosting fun contests with appealing prizes.</a:t>
            </a:r>
            <a:endParaRPr lang="en-US" sz="15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193" y="6417885"/>
            <a:ext cx="301228" cy="30122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355527" y="6411754"/>
            <a:ext cx="3513892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Collaborate with Influencers</a:t>
            </a:r>
            <a:endParaRPr lang="en-US" sz="1950" dirty="0"/>
          </a:p>
        </p:txBody>
      </p:sp>
      <p:sp>
        <p:nvSpPr>
          <p:cNvPr id="17" name="Text 9"/>
          <p:cNvSpPr/>
          <p:nvPr/>
        </p:nvSpPr>
        <p:spPr>
          <a:xfrm>
            <a:off x="1355527" y="6846094"/>
            <a:ext cx="7085528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Partner with micro- or macro-influencers whose audience aligns with your brand.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1069"/>
            <a:ext cx="130404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Instagram Ads: Targeted Growth and Conversions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822127" y="2082165"/>
            <a:ext cx="510183" cy="589598"/>
          </a:xfrm>
          <a:prstGeom prst="roundRect">
            <a:avLst>
              <a:gd name="adj" fmla="val 10754"/>
            </a:avLst>
          </a:prstGeom>
          <a:solidFill>
            <a:srgbClr val="4D4D5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474" y="2248495"/>
            <a:ext cx="283488" cy="2268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943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Precise Targeting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434358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Reach specific demographics, interests, and behaviors for highly effective campaigns.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85221" y="2082165"/>
            <a:ext cx="510183" cy="589598"/>
          </a:xfrm>
          <a:prstGeom prst="roundRect">
            <a:avLst>
              <a:gd name="adj" fmla="val 10754"/>
            </a:avLst>
          </a:prstGeom>
          <a:solidFill>
            <a:srgbClr val="4D4D5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569" y="2248495"/>
            <a:ext cx="283488" cy="2268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6884" y="2943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Boosted Posts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56884" y="3434358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Amplify your best-performing organic content to reach a wider audience quickly.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822127" y="4602480"/>
            <a:ext cx="510183" cy="589598"/>
          </a:xfrm>
          <a:prstGeom prst="roundRect">
            <a:avLst>
              <a:gd name="adj" fmla="val 10754"/>
            </a:avLst>
          </a:prstGeom>
          <a:solidFill>
            <a:srgbClr val="4D4D5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74" y="4768810"/>
            <a:ext cx="283488" cy="2268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54642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Shop Now Campaigns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954673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Drive direct sales and conversions with clear calls-to-action that link to your products.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85221" y="4602480"/>
            <a:ext cx="510183" cy="589598"/>
          </a:xfrm>
          <a:prstGeom prst="roundRect">
            <a:avLst>
              <a:gd name="adj" fmla="val 10754"/>
            </a:avLst>
          </a:prstGeom>
          <a:solidFill>
            <a:srgbClr val="4D4D5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569" y="4768810"/>
            <a:ext cx="283488" cy="22681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56884" y="54642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Video Ads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56884" y="5954673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Utilize compelling video creatives to tell a richer story and capture more attention.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93790" y="693562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Instagram's robust advertising platform allows for detailed customization to meet various marketing objectives.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744" y="336828"/>
            <a:ext cx="6737152" cy="38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Analytics &amp; Insights: Measuring Your Success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744" y="964763"/>
            <a:ext cx="13772912" cy="734508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06120" y="8309848"/>
            <a:ext cx="122515" cy="122515"/>
          </a:xfrm>
          <a:prstGeom prst="roundRect">
            <a:avLst>
              <a:gd name="adj" fmla="val 14927"/>
            </a:avLst>
          </a:prstGeom>
          <a:solidFill>
            <a:srgbClr val="CF077A"/>
          </a:solidFill>
          <a:ln/>
        </p:spPr>
      </p:sp>
      <p:sp>
        <p:nvSpPr>
          <p:cNvPr id="5" name="Text 2"/>
          <p:cNvSpPr/>
          <p:nvPr/>
        </p:nvSpPr>
        <p:spPr>
          <a:xfrm>
            <a:off x="6289596" y="8309848"/>
            <a:ext cx="949404" cy="122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Followers Gained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391400" y="8309848"/>
            <a:ext cx="122515" cy="122515"/>
          </a:xfrm>
          <a:prstGeom prst="roundRect">
            <a:avLst>
              <a:gd name="adj" fmla="val 14927"/>
            </a:avLst>
          </a:prstGeom>
          <a:solidFill>
            <a:srgbClr val="FA64BA"/>
          </a:solidFill>
          <a:ln/>
        </p:spPr>
      </p:sp>
      <p:sp>
        <p:nvSpPr>
          <p:cNvPr id="7" name="Text 4"/>
          <p:cNvSpPr/>
          <p:nvPr/>
        </p:nvSpPr>
        <p:spPr>
          <a:xfrm>
            <a:off x="7574875" y="8309848"/>
            <a:ext cx="1172408" cy="122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Engagement Rate (%)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8744" y="8815268"/>
            <a:ext cx="13772912" cy="1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Understanding your Instagram analytics is vital for refining your strategy. Track key metrics such as: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8744" y="9149001"/>
            <a:ext cx="13772912" cy="1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Reach &amp; Impressions: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How many unique accounts saw your content.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8744" y="9387840"/>
            <a:ext cx="13772912" cy="1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Engagement Rate: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The percentage of your audience that interacts with your content.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28744" y="9626679"/>
            <a:ext cx="13772912" cy="1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Follower Growth: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Your net increase in followers over time.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28744" y="9865519"/>
            <a:ext cx="13772912" cy="1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Audience Demographics: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Insights into your followers' age, gender, and location.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28744" y="10104358"/>
            <a:ext cx="13772912" cy="1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Best Performing Content: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Identify what resonates most with your audience.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023" y="592455"/>
            <a:ext cx="13122354" cy="1346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Staying Ahead: Trends and Future of Instagram Marketing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54023" y="2369939"/>
            <a:ext cx="6453426" cy="646271"/>
          </a:xfrm>
          <a:prstGeom prst="roundRect">
            <a:avLst>
              <a:gd name="adj" fmla="val 480074"/>
            </a:avLst>
          </a:prstGeom>
          <a:solidFill>
            <a:srgbClr val="433550"/>
          </a:solidFill>
          <a:ln/>
        </p:spPr>
      </p:sp>
      <p:sp>
        <p:nvSpPr>
          <p:cNvPr id="4" name="Text 2"/>
          <p:cNvSpPr/>
          <p:nvPr/>
        </p:nvSpPr>
        <p:spPr>
          <a:xfrm>
            <a:off x="969407" y="3231594"/>
            <a:ext cx="349972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Short-Form Video Dominance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9407" y="3697367"/>
            <a:ext cx="6022658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Reels will continue to be a primary driver of discovery and engagement.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22833" y="2369939"/>
            <a:ext cx="6453545" cy="646271"/>
          </a:xfrm>
          <a:prstGeom prst="roundRect">
            <a:avLst>
              <a:gd name="adj" fmla="val 480074"/>
            </a:avLst>
          </a:prstGeom>
          <a:solidFill>
            <a:srgbClr val="433550"/>
          </a:solidFill>
          <a:ln/>
        </p:spPr>
      </p:sp>
      <p:sp>
        <p:nvSpPr>
          <p:cNvPr id="7" name="Text 5"/>
          <p:cNvSpPr/>
          <p:nvPr/>
        </p:nvSpPr>
        <p:spPr>
          <a:xfrm>
            <a:off x="7638217" y="3231594"/>
            <a:ext cx="296132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E-commerce Integration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638217" y="3697367"/>
            <a:ext cx="6022777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Seamless in-app shopping experiences will become even more sophisticated.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54023" y="4817745"/>
            <a:ext cx="6453426" cy="646271"/>
          </a:xfrm>
          <a:prstGeom prst="roundRect">
            <a:avLst>
              <a:gd name="adj" fmla="val 480074"/>
            </a:avLst>
          </a:prstGeom>
          <a:solidFill>
            <a:srgbClr val="433550"/>
          </a:solidFill>
          <a:ln/>
        </p:spPr>
      </p:sp>
      <p:sp>
        <p:nvSpPr>
          <p:cNvPr id="10" name="Text 8"/>
          <p:cNvSpPr/>
          <p:nvPr/>
        </p:nvSpPr>
        <p:spPr>
          <a:xfrm>
            <a:off x="969407" y="5679400"/>
            <a:ext cx="349972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AI-Powered Personalization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9407" y="6145173"/>
            <a:ext cx="6022658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Content algorithms will offer highly tailored experiences to users.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422833" y="4817745"/>
            <a:ext cx="6453545" cy="646271"/>
          </a:xfrm>
          <a:prstGeom prst="roundRect">
            <a:avLst>
              <a:gd name="adj" fmla="val 480074"/>
            </a:avLst>
          </a:prstGeom>
          <a:solidFill>
            <a:srgbClr val="433550"/>
          </a:solidFill>
          <a:ln/>
        </p:spPr>
      </p:sp>
      <p:sp>
        <p:nvSpPr>
          <p:cNvPr id="13" name="Text 11"/>
          <p:cNvSpPr/>
          <p:nvPr/>
        </p:nvSpPr>
        <p:spPr>
          <a:xfrm>
            <a:off x="7638217" y="5679400"/>
            <a:ext cx="296132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Creator Economy Growth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38217" y="6145173"/>
            <a:ext cx="6022777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Authentic collaborations with creators will be increasingly important.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4023" y="7292459"/>
            <a:ext cx="1312235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Adaptability and continuous learning are essential to thrive in the ever-evolving landscape of Instagram marketing.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4718"/>
            <a:ext cx="124734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Your Action Plan: Key Takeaways &amp; Next Steps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17125"/>
            <a:ext cx="13042821" cy="3339703"/>
          </a:xfrm>
          <a:prstGeom prst="roundRect">
            <a:avLst>
              <a:gd name="adj" fmla="val 1019"/>
            </a:avLst>
          </a:prstGeom>
          <a:solidFill>
            <a:srgbClr val="433550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717125"/>
            <a:ext cx="4347567" cy="2032754"/>
          </a:xfrm>
          <a:prstGeom prst="roundRect">
            <a:avLst>
              <a:gd name="adj" fmla="val 1674"/>
            </a:avLst>
          </a:prstGeom>
          <a:solidFill>
            <a:srgbClr val="F94CAF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2943939"/>
            <a:ext cx="2975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Optimize Your Profile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434358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Ensure your bio, profile picture, and highlights are polished and informative.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41357" y="2717125"/>
            <a:ext cx="4347567" cy="2032754"/>
          </a:xfrm>
          <a:prstGeom prst="rect">
            <a:avLst/>
          </a:prstGeom>
          <a:solidFill>
            <a:srgbClr val="F94CAF"/>
          </a:solidFill>
          <a:ln/>
        </p:spPr>
      </p:sp>
      <p:sp>
        <p:nvSpPr>
          <p:cNvPr id="8" name="Shape 6"/>
          <p:cNvSpPr/>
          <p:nvPr/>
        </p:nvSpPr>
        <p:spPr>
          <a:xfrm>
            <a:off x="5141357" y="2717125"/>
            <a:ext cx="30480" cy="2032754"/>
          </a:xfrm>
          <a:prstGeom prst="roundRect">
            <a:avLst>
              <a:gd name="adj" fmla="val 111628"/>
            </a:avLst>
          </a:prstGeom>
          <a:solidFill>
            <a:srgbClr val="DF3295"/>
          </a:solidFill>
          <a:ln/>
        </p:spPr>
      </p:sp>
      <p:sp>
        <p:nvSpPr>
          <p:cNvPr id="9" name="Text 7"/>
          <p:cNvSpPr/>
          <p:nvPr/>
        </p:nvSpPr>
        <p:spPr>
          <a:xfrm>
            <a:off x="5368171" y="2943939"/>
            <a:ext cx="31171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Create Diverse Content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8171" y="343435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Mix high-quality photos, engaging videos, and dynamic Reels.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488924" y="2717125"/>
            <a:ext cx="4347567" cy="2032754"/>
          </a:xfrm>
          <a:prstGeom prst="rect">
            <a:avLst/>
          </a:prstGeom>
          <a:solidFill>
            <a:srgbClr val="F94CAF"/>
          </a:solidFill>
          <a:ln/>
        </p:spPr>
      </p:sp>
      <p:sp>
        <p:nvSpPr>
          <p:cNvPr id="12" name="Shape 10"/>
          <p:cNvSpPr/>
          <p:nvPr/>
        </p:nvSpPr>
        <p:spPr>
          <a:xfrm>
            <a:off x="9488924" y="2717125"/>
            <a:ext cx="30480" cy="2032754"/>
          </a:xfrm>
          <a:prstGeom prst="roundRect">
            <a:avLst>
              <a:gd name="adj" fmla="val 111628"/>
            </a:avLst>
          </a:prstGeom>
          <a:solidFill>
            <a:srgbClr val="DF3295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738" y="2943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Master Hashtags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715738" y="343435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Research and use a blend of relevant, popular, and niche hashtags.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749879"/>
            <a:ext cx="6521291" cy="1306949"/>
          </a:xfrm>
          <a:prstGeom prst="rect">
            <a:avLst/>
          </a:prstGeom>
          <a:solidFill>
            <a:srgbClr val="F94CAF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4749879"/>
            <a:ext cx="6521291" cy="30480"/>
          </a:xfrm>
          <a:prstGeom prst="roundRect">
            <a:avLst>
              <a:gd name="adj" fmla="val 111628"/>
            </a:avLst>
          </a:prstGeom>
          <a:solidFill>
            <a:srgbClr val="DF3295"/>
          </a:solidFill>
          <a:ln/>
        </p:spPr>
      </p:sp>
      <p:sp>
        <p:nvSpPr>
          <p:cNvPr id="17" name="Text 15"/>
          <p:cNvSpPr/>
          <p:nvPr/>
        </p:nvSpPr>
        <p:spPr>
          <a:xfrm>
            <a:off x="1020604" y="497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Engage Actively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0604" y="5467112"/>
            <a:ext cx="60676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Respond to your community and use interactive features.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315081" y="4749879"/>
            <a:ext cx="6521410" cy="1306949"/>
          </a:xfrm>
          <a:prstGeom prst="rect">
            <a:avLst/>
          </a:prstGeom>
          <a:solidFill>
            <a:srgbClr val="F94CAF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081" y="4749879"/>
            <a:ext cx="30480" cy="1306949"/>
          </a:xfrm>
          <a:prstGeom prst="roundRect">
            <a:avLst>
              <a:gd name="adj" fmla="val 111628"/>
            </a:avLst>
          </a:prstGeom>
          <a:solidFill>
            <a:srgbClr val="DF3295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081" y="4749879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DF3295"/>
          </a:solidFill>
          <a:ln/>
        </p:spPr>
      </p:sp>
      <p:sp>
        <p:nvSpPr>
          <p:cNvPr id="22" name="Text 20"/>
          <p:cNvSpPr/>
          <p:nvPr/>
        </p:nvSpPr>
        <p:spPr>
          <a:xfrm>
            <a:off x="7541895" y="4976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Measure &amp; Adapt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41895" y="5467112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Regularly review analytics to refine your strategy.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63119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Start implementing these strategies today to elevate your brand's presence and impact on Instagram!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2025-12-08T11:08:51Z</dcterms:created>
  <dcterms:modified xsi:type="dcterms:W3CDTF">2025-12-08T11:08:51Z</dcterms:modified>
</cp:coreProperties>
</file>